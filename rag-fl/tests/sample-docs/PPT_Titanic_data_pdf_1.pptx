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25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2997"/>
            <a:ext cx="5960110" cy="4593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384">
              <a:lnSpc>
                <a:spcPct val="111100"/>
              </a:lnSpc>
              <a:spcBef>
                <a:spcPts val="95"/>
              </a:spcBef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sinking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Titanic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one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most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infamous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shipwrecks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history.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-8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April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15, </a:t>
            </a:r>
            <a:r>
              <a:rPr lang="en-US" sz="1200" dirty="0">
                <a:latin typeface="Arial MT"/>
                <a:cs typeface="Arial MT"/>
              </a:rPr>
              <a:t>1912,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during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her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maiden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voyage,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4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Titanic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sank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colliding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with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iceberg,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killing </a:t>
            </a:r>
            <a:r>
              <a:rPr lang="en-US" sz="1200" dirty="0">
                <a:latin typeface="Arial MT"/>
                <a:cs typeface="Arial MT"/>
              </a:rPr>
              <a:t>1502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out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2224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passengers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crew.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That's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why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name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spc="-20" dirty="0" err="1">
                <a:latin typeface="Arial MT"/>
                <a:cs typeface="Arial MT"/>
              </a:rPr>
              <a:t>DieTanic</a:t>
            </a:r>
            <a:r>
              <a:rPr lang="en-US" sz="1200" spc="-20" dirty="0">
                <a:latin typeface="Arial MT"/>
                <a:cs typeface="Arial MT"/>
              </a:rPr>
              <a:t>.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This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spc="-20" dirty="0">
                <a:latin typeface="Arial MT"/>
                <a:cs typeface="Arial MT"/>
              </a:rPr>
              <a:t>very </a:t>
            </a:r>
            <a:r>
              <a:rPr lang="en-US" sz="1200" dirty="0" err="1">
                <a:latin typeface="Arial MT"/>
                <a:cs typeface="Arial MT"/>
              </a:rPr>
              <a:t>unforgetable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disaster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that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no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world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can</a:t>
            </a:r>
            <a:r>
              <a:rPr lang="en-US" sz="1200" spc="-10" dirty="0">
                <a:latin typeface="Arial MT"/>
                <a:cs typeface="Arial MT"/>
              </a:rPr>
              <a:t> forget.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12700" marR="5080">
              <a:lnSpc>
                <a:spcPct val="111200"/>
              </a:lnSpc>
            </a:pPr>
            <a:r>
              <a:rPr lang="en-US" sz="1200" dirty="0">
                <a:latin typeface="Arial MT"/>
                <a:cs typeface="Arial MT"/>
              </a:rPr>
              <a:t>It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took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about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$7.5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million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build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Titanic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it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sunk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under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ocean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due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collision.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Titanic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Dataset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very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good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dataset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for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beginners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start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journey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spc="-20" dirty="0">
                <a:latin typeface="Arial MT"/>
                <a:cs typeface="Arial MT"/>
              </a:rPr>
              <a:t>data</a:t>
            </a:r>
            <a:r>
              <a:rPr lang="en-US" sz="1200" spc="50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science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participate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competitions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Kaggle.</a:t>
            </a: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lang="en-US"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lang="en-US" sz="1200" dirty="0">
              <a:latin typeface="Arial MT"/>
              <a:cs typeface="Arial MT"/>
            </a:endParaRPr>
          </a:p>
          <a:p>
            <a:pPr marL="12700" marR="91440" algn="just">
              <a:lnSpc>
                <a:spcPct val="111100"/>
              </a:lnSpc>
              <a:spcBef>
                <a:spcPts val="5"/>
              </a:spcBef>
            </a:pP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Objective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this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document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give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idea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how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workflow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any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predictive </a:t>
            </a:r>
            <a:r>
              <a:rPr lang="en-US" sz="1200" dirty="0">
                <a:latin typeface="Arial MT"/>
                <a:cs typeface="Arial MT"/>
              </a:rPr>
              <a:t>modeling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problem.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How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do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check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features,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how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do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add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new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features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spc="-20" dirty="0">
                <a:latin typeface="Arial MT"/>
                <a:cs typeface="Arial MT"/>
              </a:rPr>
              <a:t>some </a:t>
            </a:r>
            <a:r>
              <a:rPr lang="en-US" sz="1200" dirty="0">
                <a:latin typeface="Arial MT"/>
                <a:cs typeface="Arial MT"/>
              </a:rPr>
              <a:t>Machine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Learning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Concepts.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have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tried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keep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document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as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basic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possible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so </a:t>
            </a:r>
            <a:r>
              <a:rPr lang="en-US" sz="1200" dirty="0">
                <a:latin typeface="Arial MT"/>
                <a:cs typeface="Arial MT"/>
              </a:rPr>
              <a:t>that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even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newbies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can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understand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every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phase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it.</a:t>
            </a:r>
            <a:endParaRPr lang="en-US" sz="1200" dirty="0">
              <a:latin typeface="Arial MT"/>
              <a:cs typeface="Arial MT"/>
            </a:endParaRPr>
          </a:p>
          <a:p>
            <a:pPr marL="12700" marR="123189">
              <a:lnSpc>
                <a:spcPct val="111000"/>
              </a:lnSpc>
              <a:spcBef>
                <a:spcPts val="800"/>
              </a:spcBef>
            </a:pPr>
            <a:r>
              <a:rPr lang="en-US" sz="1200" dirty="0">
                <a:latin typeface="Arial MT"/>
                <a:cs typeface="Arial MT"/>
              </a:rPr>
              <a:t>This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document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provides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comprehensive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guide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performing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Exploratory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spc="-20" dirty="0">
                <a:latin typeface="Arial MT"/>
                <a:cs typeface="Arial MT"/>
              </a:rPr>
              <a:t>Data </a:t>
            </a:r>
            <a:r>
              <a:rPr lang="en-US" sz="1200" dirty="0">
                <a:latin typeface="Arial MT"/>
                <a:cs typeface="Arial MT"/>
              </a:rPr>
              <a:t>Analysis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(EDA)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predictive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modeling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on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Titanic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dataset.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It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covers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data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cleaning, </a:t>
            </a:r>
            <a:r>
              <a:rPr lang="en-US" sz="1200" dirty="0">
                <a:latin typeface="Arial MT"/>
                <a:cs typeface="Arial MT"/>
              </a:rPr>
              <a:t>feature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engineering,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visualization,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model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building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using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various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algorithms.</a:t>
            </a:r>
            <a:r>
              <a:rPr lang="en-US" sz="1200" spc="-4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The </a:t>
            </a:r>
            <a:r>
              <a:rPr lang="en-US" sz="1200" dirty="0">
                <a:latin typeface="Arial MT"/>
                <a:cs typeface="Arial MT"/>
              </a:rPr>
              <a:t>notebook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aims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predict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passenger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survival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rates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using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machine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learning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techniques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offers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insights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into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factors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influencing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survival.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dirty="0" err="1">
                <a:latin typeface="Arial MT"/>
                <a:cs typeface="Arial MT"/>
              </a:rPr>
              <a:t>sibsp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number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of </a:t>
            </a:r>
            <a:r>
              <a:rPr lang="en-US" sz="1200" dirty="0">
                <a:latin typeface="Arial MT"/>
                <a:cs typeface="Arial MT"/>
              </a:rPr>
              <a:t>siblings/spouses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aboard.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Parch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3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number</a:t>
            </a:r>
            <a:r>
              <a:rPr lang="en-US" sz="1200" spc="-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parents/children</a:t>
            </a:r>
            <a:r>
              <a:rPr lang="en-US" sz="1200" spc="-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aboard.</a:t>
            </a:r>
            <a:r>
              <a:rPr lang="en-US" sz="1200" spc="15" dirty="0">
                <a:latin typeface="Arial MT"/>
                <a:cs typeface="Arial MT"/>
              </a:rPr>
              <a:t> </a:t>
            </a:r>
            <a:r>
              <a:rPr lang="en-US" sz="1200" spc="-25" dirty="0">
                <a:latin typeface="Arial MT"/>
                <a:cs typeface="Arial MT"/>
              </a:rPr>
              <a:t>For </a:t>
            </a:r>
            <a:r>
              <a:rPr lang="en-US" sz="1200" dirty="0">
                <a:latin typeface="Arial MT"/>
                <a:cs typeface="Arial MT"/>
              </a:rPr>
              <a:t>embarked,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=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Cherbourg,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Q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=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Queenstown,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=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Southampton.</a:t>
            </a:r>
            <a:endParaRPr lang="en-US" sz="1200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3923" y="5584825"/>
          <a:ext cx="7312018" cy="3501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53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62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Id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Survived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Pclass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Name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Sex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Age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SibSp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Parch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Ticket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Fare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Cabin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Embarked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63525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Braund,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Mr.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Owen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Harris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A/5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21171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7.25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5255">
                        <a:lnSpc>
                          <a:spcPct val="957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Cumings,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Mrs.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John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Bradley (Florence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Briggs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Thayer)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PC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17599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71.2833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C85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C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25120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Heikkinen,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Miss.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Laina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80975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STON/O2. 3101282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7.925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0650">
                        <a:lnSpc>
                          <a:spcPct val="961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Futrelle,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Mrs.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Jacques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Heath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(Lily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Peel)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113803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53.1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C123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8415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Allen,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Mr.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William</a:t>
                      </a:r>
                      <a:r>
                        <a:rPr sz="1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Henry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373450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8.05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54330">
                        <a:lnSpc>
                          <a:spcPts val="114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Moran,</a:t>
                      </a:r>
                      <a:r>
                        <a:rPr sz="1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Mr.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James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330877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8.4583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0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Q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145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McCarthy,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Mr.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Timothy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J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54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17463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51.8625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E46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0815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Palsson,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Master.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Gosta Leonard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349909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21.075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69545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Johnson,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Mrs.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Oscar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W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347742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11.1333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53923" y="914399"/>
          <a:ext cx="7312018" cy="466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53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62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51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82270" algn="just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(Elisabeth Vilhelmina Berg)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79375">
                        <a:lnSpc>
                          <a:spcPct val="955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Nasser,</a:t>
                      </a:r>
                      <a:r>
                        <a:rPr sz="1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Mrs.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Nicholas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(Adele Achem)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237736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865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30.0708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C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8770">
                        <a:lnSpc>
                          <a:spcPts val="115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Sandstrom, Miss.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ts val="1065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Marguerite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Rut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PP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9549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16.7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G6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780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Bonnell,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Miss. Elizabeth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58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113783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26.55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C103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91135">
                        <a:lnSpc>
                          <a:spcPct val="9550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Saundercock,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Mr.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William Henry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A/5.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2151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8.05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7314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Andersson,</a:t>
                      </a:r>
                      <a:r>
                        <a:rPr sz="1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Mr.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Anders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Johan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347082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31.275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7000" algn="just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Vestrom,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Miss.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Hulda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Amanda Adolfina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350406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7.8542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26060">
                        <a:lnSpc>
                          <a:spcPct val="955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Hewlett,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Mrs.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(Mary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D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Kingcome)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55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248706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20345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Rice,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Master. Eugene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382652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29.125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  <a:spcBef>
                          <a:spcPts val="111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Q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41300">
                        <a:lnSpc>
                          <a:spcPts val="115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Williams,</a:t>
                      </a:r>
                      <a:r>
                        <a:rPr sz="1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Mr.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Charles Eugene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244373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40"/>
                        </a:lnSpc>
                        <a:spcBef>
                          <a:spcPts val="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5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9055" algn="r">
                        <a:lnSpc>
                          <a:spcPts val="115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5405">
                        <a:lnSpc>
                          <a:spcPct val="9570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Vander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Planke,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Mrs.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Julius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(Emelia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Maria Vandemoortele)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female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3500" algn="r">
                        <a:lnSpc>
                          <a:spcPts val="11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31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ts val="115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ts val="115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345763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2230" algn="r">
                        <a:lnSpc>
                          <a:spcPts val="11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150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S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744" y="4489703"/>
            <a:ext cx="658368" cy="21183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1208" y="4489703"/>
            <a:ext cx="1051560" cy="2182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4896" y="5556503"/>
            <a:ext cx="1048511" cy="1115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3960" y="1313688"/>
            <a:ext cx="2432304" cy="249326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688335" y="6059423"/>
            <a:ext cx="670560" cy="701040"/>
            <a:chOff x="2688335" y="6059423"/>
            <a:chExt cx="670560" cy="70104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8335" y="6059423"/>
              <a:ext cx="670560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88335" y="6059423"/>
              <a:ext cx="670560" cy="70104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908303" y="7357871"/>
            <a:ext cx="1859280" cy="1792605"/>
            <a:chOff x="908303" y="7357871"/>
            <a:chExt cx="1859280" cy="179260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8303" y="7357871"/>
              <a:ext cx="1859280" cy="17922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8303" y="7357871"/>
              <a:ext cx="1859280" cy="1792223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34183" y="978408"/>
            <a:ext cx="356616" cy="76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3167" y="4776215"/>
            <a:ext cx="3215639" cy="81076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54383" y="4247896"/>
            <a:ext cx="5715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Times New Roman"/>
                <a:cs typeface="Times New Roman"/>
              </a:rPr>
              <a:t>Survived</a:t>
            </a:r>
            <a:r>
              <a:rPr sz="700" spc="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vs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Se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6685" y="4254246"/>
            <a:ext cx="829944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latin typeface="Times New Roman"/>
                <a:cs typeface="Times New Roman"/>
              </a:rPr>
              <a:t>Sex:Survived</a:t>
            </a:r>
            <a:r>
              <a:rPr sz="650" spc="29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vs</a:t>
            </a:r>
            <a:r>
              <a:rPr sz="650" spc="165" dirty="0">
                <a:latin typeface="Times New Roman"/>
                <a:cs typeface="Times New Roman"/>
              </a:rPr>
              <a:t> </a:t>
            </a:r>
            <a:r>
              <a:rPr sz="650" spc="-20" dirty="0">
                <a:latin typeface="Times New Roman"/>
                <a:cs typeface="Times New Roman"/>
              </a:rPr>
              <a:t>Dead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88139" y="4477258"/>
            <a:ext cx="6413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50" dirty="0">
                <a:solidFill>
                  <a:srgbClr val="1F1F1F"/>
                </a:solidFill>
                <a:latin typeface="Courier New"/>
                <a:cs typeface="Courier New"/>
              </a:rPr>
              <a:t>0</a:t>
            </a:r>
            <a:endParaRPr sz="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907407"/>
            <a:ext cx="71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"/>
                <a:cs typeface="Cambria"/>
              </a:rPr>
              <a:t>f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75" y="1876413"/>
            <a:ext cx="3190875" cy="25330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628" y="5179871"/>
            <a:ext cx="5883207" cy="2415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2954" y="1218867"/>
          <a:ext cx="5988685" cy="221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Sex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5440">
                        <a:lnSpc>
                          <a:spcPts val="1245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female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45"/>
                        </a:lnSpc>
                      </a:pPr>
                      <a:r>
                        <a:rPr sz="1100" spc="-20" dirty="0">
                          <a:latin typeface="Trebuchet MS"/>
                          <a:cs typeface="Trebuchet MS"/>
                        </a:rPr>
                        <a:t>male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All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58570">
                        <a:lnSpc>
                          <a:spcPts val="1245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Survived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Embarked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Pclass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0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42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0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25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240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0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85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R="74803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C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33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66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R="74612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Q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36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72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46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51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28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127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61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82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164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R="756285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0" algn="r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55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33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231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34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353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31750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All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81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231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468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109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245"/>
                        </a:lnSpc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889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925830" y="4408170"/>
            <a:ext cx="6008370" cy="4008754"/>
            <a:chOff x="925830" y="4408170"/>
            <a:chExt cx="6008370" cy="40087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745" y="4417883"/>
              <a:ext cx="5905581" cy="3922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5830" y="4408169"/>
              <a:ext cx="6008370" cy="4008754"/>
            </a:xfrm>
            <a:custGeom>
              <a:avLst/>
              <a:gdLst/>
              <a:ahLst/>
              <a:cxnLst/>
              <a:rect l="l" t="t" r="r" b="b"/>
              <a:pathLst>
                <a:path w="6008370" h="4008754">
                  <a:moveTo>
                    <a:pt x="2913380" y="2186305"/>
                  </a:moveTo>
                  <a:lnTo>
                    <a:pt x="0" y="2186305"/>
                  </a:lnTo>
                  <a:lnTo>
                    <a:pt x="0" y="4008755"/>
                  </a:lnTo>
                  <a:lnTo>
                    <a:pt x="2913380" y="4008755"/>
                  </a:lnTo>
                  <a:lnTo>
                    <a:pt x="2913380" y="2186305"/>
                  </a:lnTo>
                  <a:close/>
                </a:path>
                <a:path w="6008370" h="4008754">
                  <a:moveTo>
                    <a:pt x="2913380" y="0"/>
                  </a:moveTo>
                  <a:lnTo>
                    <a:pt x="0" y="0"/>
                  </a:lnTo>
                  <a:lnTo>
                    <a:pt x="0" y="1822450"/>
                  </a:lnTo>
                  <a:lnTo>
                    <a:pt x="2913380" y="1822450"/>
                  </a:lnTo>
                  <a:lnTo>
                    <a:pt x="2913380" y="0"/>
                  </a:lnTo>
                  <a:close/>
                </a:path>
                <a:path w="6008370" h="4008754">
                  <a:moveTo>
                    <a:pt x="6008370" y="2121535"/>
                  </a:moveTo>
                  <a:lnTo>
                    <a:pt x="3094990" y="2121535"/>
                  </a:lnTo>
                  <a:lnTo>
                    <a:pt x="3094990" y="3943985"/>
                  </a:lnTo>
                  <a:lnTo>
                    <a:pt x="6008370" y="3943985"/>
                  </a:lnTo>
                  <a:lnTo>
                    <a:pt x="6008370" y="21215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330" y="1161849"/>
            <a:ext cx="5888862" cy="22032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831335"/>
            <a:ext cx="1752600" cy="260553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3430" y="979169"/>
            <a:ext cx="3025140" cy="2449830"/>
          </a:xfrm>
          <a:custGeom>
            <a:avLst/>
            <a:gdLst/>
            <a:ahLst/>
            <a:cxnLst/>
            <a:rect l="l" t="t" r="r" b="b"/>
            <a:pathLst>
              <a:path w="3025140" h="2449829">
                <a:moveTo>
                  <a:pt x="3025139" y="0"/>
                </a:moveTo>
                <a:lnTo>
                  <a:pt x="0" y="0"/>
                </a:lnTo>
                <a:lnTo>
                  <a:pt x="0" y="2449829"/>
                </a:lnTo>
                <a:lnTo>
                  <a:pt x="3025139" y="2449829"/>
                </a:lnTo>
                <a:lnTo>
                  <a:pt x="302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072" y="7330440"/>
            <a:ext cx="5190744" cy="4511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" y="1319783"/>
            <a:ext cx="5084064" cy="51084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2032" y="4776215"/>
            <a:ext cx="451104" cy="11978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52032" y="1216152"/>
            <a:ext cx="393191" cy="11399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29711" y="7242047"/>
            <a:ext cx="313943" cy="426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83691" y="7205471"/>
            <a:ext cx="30353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494949"/>
                </a:solidFill>
                <a:latin typeface="Times New Roman"/>
                <a:cs typeface="Times New Roman"/>
              </a:rPr>
              <a:t>1:3O</a:t>
            </a:r>
            <a:r>
              <a:rPr sz="500" spc="21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494949"/>
                </a:solidFill>
                <a:latin typeface="Times New Roman"/>
                <a:cs typeface="Times New Roman"/>
              </a:rPr>
              <a:t>¥*M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2560" y="7192771"/>
            <a:ext cx="2978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5" dirty="0">
                <a:solidFill>
                  <a:srgbClr val="494949"/>
                </a:solidFill>
                <a:latin typeface="Courier New"/>
                <a:cs typeface="Courier New"/>
              </a:rPr>
              <a:t>1:4ZIWW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8973" y="899414"/>
            <a:ext cx="17621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Times New Roman"/>
                <a:cs typeface="Times New Roman"/>
              </a:rPr>
              <a:t>Pearson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Correlation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of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Features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4182" y="6582156"/>
            <a:ext cx="8223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494949"/>
                </a:solidFill>
                <a:latin typeface="Times New Roman"/>
                <a:cs typeface="Times New Roman"/>
              </a:rPr>
              <a:t>Titanic</a:t>
            </a:r>
            <a:r>
              <a:rPr sz="800" spc="8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800" spc="40" dirty="0">
                <a:solidFill>
                  <a:srgbClr val="494949"/>
                </a:solidFill>
                <a:latin typeface="Times New Roman"/>
                <a:cs typeface="Times New Roman"/>
              </a:rPr>
              <a:t>Timeline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17769" y="7199121"/>
            <a:ext cx="33655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solidFill>
                  <a:srgbClr val="494949"/>
                </a:solidFill>
                <a:latin typeface="Courier New"/>
                <a:cs typeface="Courier New"/>
              </a:rPr>
              <a:t>l*:4OPM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6763" y="7796783"/>
            <a:ext cx="1811020" cy="19050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R="40640" algn="ctr">
              <a:lnSpc>
                <a:spcPct val="100000"/>
              </a:lnSpc>
              <a:spcBef>
                <a:spcPts val="145"/>
              </a:spcBef>
              <a:tabLst>
                <a:tab pos="590550" algn="l"/>
                <a:tab pos="1208405" algn="l"/>
              </a:tabLst>
            </a:pPr>
            <a:r>
              <a:rPr sz="500" spc="-10" dirty="0">
                <a:solidFill>
                  <a:srgbClr val="494949"/>
                </a:solidFill>
                <a:latin typeface="Arial MT"/>
                <a:cs typeface="Arial MT"/>
              </a:rPr>
              <a:t>9:DO</a:t>
            </a:r>
            <a:r>
              <a:rPr sz="500" spc="2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500" spc="-50" dirty="0">
                <a:solidFill>
                  <a:srgbClr val="494949"/>
                </a:solidFill>
                <a:latin typeface="Arial MT"/>
                <a:cs typeface="Arial MT"/>
              </a:rPr>
              <a:t>W</a:t>
            </a:r>
            <a:r>
              <a:rPr sz="500" dirty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sz="500" spc="-20" dirty="0">
                <a:solidFill>
                  <a:srgbClr val="494949"/>
                </a:solidFill>
                <a:latin typeface="Arial MT"/>
                <a:cs typeface="Arial MT"/>
              </a:rPr>
              <a:t>7:13</a:t>
            </a:r>
            <a:r>
              <a:rPr sz="500" dirty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sz="500" spc="10" dirty="0">
                <a:solidFill>
                  <a:srgbClr val="494949"/>
                </a:solidFill>
                <a:latin typeface="Arial MT"/>
                <a:cs typeface="Arial MT"/>
              </a:rPr>
              <a:t>11:</a:t>
            </a:r>
            <a:r>
              <a:rPr sz="500" spc="-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500" spc="10" dirty="0">
                <a:solidFill>
                  <a:srgbClr val="494949"/>
                </a:solidFill>
                <a:latin typeface="Arial MT"/>
                <a:cs typeface="Arial MT"/>
              </a:rPr>
              <a:t>30</a:t>
            </a:r>
            <a:r>
              <a:rPr sz="500" spc="10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494949"/>
                </a:solidFill>
                <a:latin typeface="Arial MT"/>
                <a:cs typeface="Arial MT"/>
              </a:rPr>
              <a:t>PM</a:t>
            </a: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500" spc="-60" dirty="0">
                <a:solidFill>
                  <a:srgbClr val="747474"/>
                </a:solidFill>
                <a:latin typeface="Arial MT"/>
                <a:cs typeface="Arial MT"/>
              </a:rPr>
              <a:t>Rec</a:t>
            </a:r>
            <a:r>
              <a:rPr sz="500" spc="-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6D6D6D"/>
                </a:solidFill>
                <a:latin typeface="Arial MT"/>
                <a:cs typeface="Arial MT"/>
              </a:rPr>
              <a:t>ie¥e</a:t>
            </a:r>
            <a:r>
              <a:rPr sz="50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4F4F4F"/>
                </a:solidFill>
                <a:latin typeface="Arial MT"/>
                <a:cs typeface="Arial MT"/>
              </a:rPr>
              <a:t>Message</a:t>
            </a:r>
            <a:r>
              <a:rPr sz="500" spc="200" dirty="0">
                <a:solidFill>
                  <a:srgbClr val="4F4F4F"/>
                </a:solidFill>
                <a:latin typeface="Arial MT"/>
                <a:cs typeface="Arial MT"/>
              </a:rPr>
              <a:t>  </a:t>
            </a:r>
            <a:r>
              <a:rPr sz="500" dirty="0">
                <a:solidFill>
                  <a:srgbClr val="545454"/>
                </a:solidFill>
                <a:latin typeface="Arial MT"/>
                <a:cs typeface="Arial MT"/>
              </a:rPr>
              <a:t>8mith</a:t>
            </a:r>
            <a:r>
              <a:rPr sz="500" spc="-3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626262"/>
                </a:solidFill>
                <a:latin typeface="Arial MT"/>
                <a:cs typeface="Arial MT"/>
              </a:rPr>
              <a:t>requests</a:t>
            </a:r>
            <a:r>
              <a:rPr sz="500" spc="3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777777"/>
                </a:solidFill>
                <a:latin typeface="Arial MT"/>
                <a:cs typeface="Arial MT"/>
              </a:rPr>
              <a:t>fhe</a:t>
            </a:r>
            <a:r>
              <a:rPr sz="500" spc="340" dirty="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sz="500" spc="-35" dirty="0">
                <a:solidFill>
                  <a:srgbClr val="4F4F4F"/>
                </a:solidFill>
                <a:latin typeface="Arial MT"/>
                <a:cs typeface="Arial MT"/>
              </a:rPr>
              <a:t>\fi'arnJng,</a:t>
            </a:r>
            <a:r>
              <a:rPr sz="500" spc="-5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545454"/>
                </a:solidFill>
                <a:latin typeface="Arial MT"/>
                <a:cs typeface="Arial MT"/>
              </a:rPr>
              <a:t>be</a:t>
            </a:r>
            <a:r>
              <a:rPr sz="500" spc="-25" dirty="0">
                <a:solidFill>
                  <a:srgbClr val="6E6E6E"/>
                </a:solidFill>
                <a:latin typeface="Arial MT"/>
                <a:cs typeface="Arial MT"/>
              </a:rPr>
              <a:t>lbs</a:t>
            </a:r>
            <a:r>
              <a:rPr sz="500" spc="14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4F4F4F"/>
                </a:solidFill>
                <a:latin typeface="Arial MT"/>
                <a:cs typeface="Arial MT"/>
              </a:rPr>
              <a:t>*ceberg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8202" y="7199121"/>
            <a:ext cx="77279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</a:tabLst>
            </a:pPr>
            <a:r>
              <a:rPr sz="550" spc="-10" dirty="0">
                <a:solidFill>
                  <a:srgbClr val="494949"/>
                </a:solidFill>
                <a:latin typeface="Courier New"/>
                <a:cs typeface="Courier New"/>
              </a:rPr>
              <a:t>lZ:‹l9AM</a:t>
            </a:r>
            <a:r>
              <a:rPr sz="550" dirty="0">
                <a:solidFill>
                  <a:srgbClr val="494949"/>
                </a:solidFill>
                <a:latin typeface="Courier New"/>
                <a:cs typeface="Courier New"/>
              </a:rPr>
              <a:t>	</a:t>
            </a:r>
            <a:r>
              <a:rPr sz="450" dirty="0">
                <a:solidFill>
                  <a:srgbClr val="E9524D"/>
                </a:solidFill>
                <a:latin typeface="Arial MT"/>
                <a:cs typeface="Arial MT"/>
              </a:rPr>
              <a:t>2</a:t>
            </a:r>
            <a:r>
              <a:rPr sz="450" spc="434" dirty="0">
                <a:solidFill>
                  <a:srgbClr val="E9524D"/>
                </a:solidFill>
                <a:latin typeface="Arial MT"/>
                <a:cs typeface="Arial MT"/>
              </a:rPr>
              <a:t> </a:t>
            </a:r>
            <a:r>
              <a:rPr sz="450" spc="-60" dirty="0">
                <a:solidFill>
                  <a:srgbClr val="E4231C"/>
                </a:solidFill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2151" y="7760969"/>
            <a:ext cx="1256030" cy="22479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80"/>
              </a:spcBef>
              <a:tabLst>
                <a:tab pos="797560" algn="l"/>
              </a:tabLst>
            </a:pPr>
            <a:r>
              <a:rPr sz="750" spc="-10" dirty="0">
                <a:solidFill>
                  <a:srgbClr val="494949"/>
                </a:solidFill>
                <a:latin typeface="Times New Roman"/>
                <a:cs typeface="Times New Roman"/>
              </a:rPr>
              <a:t>iz:zo</a:t>
            </a:r>
            <a:r>
              <a:rPr sz="750" spc="-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750" spc="-60" dirty="0">
                <a:solidFill>
                  <a:srgbClr val="494949"/>
                </a:solidFill>
                <a:latin typeface="Times New Roman"/>
                <a:cs typeface="Times New Roman"/>
              </a:rPr>
              <a:t>W</a:t>
            </a:r>
            <a:r>
              <a:rPr sz="750" dirty="0">
                <a:solidFill>
                  <a:srgbClr val="494949"/>
                </a:solidFill>
                <a:latin typeface="Times New Roman"/>
                <a:cs typeface="Times New Roman"/>
              </a:rPr>
              <a:t>	</a:t>
            </a:r>
            <a:r>
              <a:rPr sz="750" spc="-55" dirty="0">
                <a:solidFill>
                  <a:srgbClr val="494949"/>
                </a:solidFill>
                <a:latin typeface="Times New Roman"/>
                <a:cs typeface="Times New Roman"/>
              </a:rPr>
              <a:t>z:oo</a:t>
            </a:r>
            <a:r>
              <a:rPr sz="750" spc="2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750" spc="-50" dirty="0">
                <a:solidFill>
                  <a:srgbClr val="494949"/>
                </a:solidFill>
                <a:latin typeface="Times New Roman"/>
                <a:cs typeface="Times New Roman"/>
              </a:rPr>
              <a:t>w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450" dirty="0">
                <a:solidFill>
                  <a:srgbClr val="747474"/>
                </a:solidFill>
                <a:latin typeface="Times New Roman"/>
                <a:cs typeface="Times New Roman"/>
              </a:rPr>
              <a:t>K </a:t>
            </a:r>
            <a:r>
              <a:rPr sz="450" dirty="0">
                <a:solidFill>
                  <a:srgbClr val="545454"/>
                </a:solidFill>
                <a:latin typeface="Times New Roman"/>
                <a:cs typeface="Times New Roman"/>
              </a:rPr>
              <a:t>fe</a:t>
            </a:r>
            <a:r>
              <a:rPr sz="450" spc="114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777777"/>
                </a:solidFill>
                <a:latin typeface="Times New Roman"/>
                <a:cs typeface="Times New Roman"/>
              </a:rPr>
              <a:t>boats</a:t>
            </a:r>
            <a:r>
              <a:rPr sz="450" spc="95" dirty="0">
                <a:solidFill>
                  <a:srgbClr val="777777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606060"/>
                </a:solidFill>
                <a:latin typeface="Times New Roman"/>
                <a:cs typeface="Times New Roman"/>
              </a:rPr>
              <a:t>are</a:t>
            </a:r>
            <a:r>
              <a:rPr sz="450" spc="16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545454"/>
                </a:solidFill>
                <a:latin typeface="Times New Roman"/>
                <a:cs typeface="Times New Roman"/>
              </a:rPr>
              <a:t>being</a:t>
            </a:r>
            <a:r>
              <a:rPr sz="450" spc="290" dirty="0">
                <a:solidFill>
                  <a:srgbClr val="545454"/>
                </a:solidFill>
                <a:latin typeface="Times New Roman"/>
                <a:cs typeface="Times New Roman"/>
              </a:rPr>
              <a:t>  </a:t>
            </a:r>
            <a:r>
              <a:rPr sz="450" dirty="0">
                <a:solidFill>
                  <a:srgbClr val="6D6D6D"/>
                </a:solidFill>
                <a:latin typeface="Times New Roman"/>
                <a:cs typeface="Times New Roman"/>
              </a:rPr>
              <a:t>Hear</a:t>
            </a:r>
            <a:r>
              <a:rPr sz="450" spc="120" dirty="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6D6D6D"/>
                </a:solidFill>
                <a:latin typeface="Times New Roman"/>
                <a:cs typeface="Times New Roman"/>
              </a:rPr>
              <a:t>of</a:t>
            </a:r>
            <a:r>
              <a:rPr sz="450" spc="125" dirty="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777777"/>
                </a:solidFill>
                <a:latin typeface="Times New Roman"/>
                <a:cs typeface="Times New Roman"/>
              </a:rPr>
              <a:t>boa</a:t>
            </a:r>
            <a:r>
              <a:rPr sz="450" spc="65" dirty="0">
                <a:solidFill>
                  <a:srgbClr val="777777"/>
                </a:solidFill>
                <a:latin typeface="Times New Roman"/>
                <a:cs typeface="Times New Roman"/>
              </a:rPr>
              <a:t> </a:t>
            </a:r>
            <a:r>
              <a:rPr sz="450" spc="-90" dirty="0">
                <a:solidFill>
                  <a:srgbClr val="757575"/>
                </a:solidFill>
                <a:latin typeface="Times New Roman"/>
                <a:cs typeface="Times New Roman"/>
              </a:rPr>
              <a:t>k</a:t>
            </a:r>
            <a:r>
              <a:rPr sz="450" spc="65" dirty="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4F4F4F"/>
                </a:solidFill>
                <a:latin typeface="Times New Roman"/>
                <a:cs typeface="Times New Roman"/>
              </a:rPr>
              <a:t>begins</a:t>
            </a:r>
            <a:r>
              <a:rPr sz="450" spc="15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450" spc="-25" dirty="0">
                <a:solidFill>
                  <a:srgbClr val="8E8E8E"/>
                </a:solidFill>
                <a:latin typeface="Times New Roman"/>
                <a:cs typeface="Times New Roman"/>
              </a:rPr>
              <a:t>to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2568" y="3074416"/>
            <a:ext cx="20129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65" dirty="0">
                <a:solidFill>
                  <a:srgbClr val="333333"/>
                </a:solidFill>
                <a:latin typeface="Consolas"/>
                <a:cs typeface="Consolas"/>
              </a:rPr>
              <a:t>-</a:t>
            </a:r>
            <a:r>
              <a:rPr sz="700" spc="40" dirty="0">
                <a:solidFill>
                  <a:srgbClr val="333333"/>
                </a:solidFill>
                <a:latin typeface="Consolas"/>
                <a:cs typeface="Consolas"/>
              </a:rPr>
              <a:t>R3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65953" y="3906520"/>
            <a:ext cx="2019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333333"/>
                </a:solidFill>
                <a:latin typeface="Courier New"/>
                <a:cs typeface="Courier New"/>
              </a:rPr>
              <a:t>-</a:t>
            </a:r>
            <a:r>
              <a:rPr sz="700" spc="-25" dirty="0">
                <a:solidFill>
                  <a:srgbClr val="333333"/>
                </a:solidFill>
                <a:latin typeface="Courier New"/>
                <a:cs typeface="Courier New"/>
              </a:rPr>
              <a:t>R0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9446" y="1646189"/>
            <a:ext cx="5545455" cy="2984500"/>
            <a:chOff x="979446" y="1646189"/>
            <a:chExt cx="5545455" cy="2984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9446" y="1646189"/>
              <a:ext cx="5512668" cy="28946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803" y="4565218"/>
              <a:ext cx="81307" cy="650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4004" y="4565218"/>
              <a:ext cx="89438" cy="650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4466" y="4565218"/>
              <a:ext cx="81307" cy="650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666" y="4565218"/>
              <a:ext cx="81307" cy="650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0998" y="4565218"/>
              <a:ext cx="81307" cy="650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3329" y="4565218"/>
              <a:ext cx="81307" cy="650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21520" y="4514122"/>
            <a:ext cx="8953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50" dirty="0">
                <a:solidFill>
                  <a:srgbClr val="212121"/>
                </a:solidFill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8381" y="1138853"/>
            <a:ext cx="265811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dirty="0">
                <a:latin typeface="Times New Roman"/>
                <a:cs typeface="Times New Roman"/>
              </a:rPr>
              <a:t>Age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spc="114" dirty="0">
                <a:latin typeface="Times New Roman"/>
                <a:cs typeface="Times New Roman"/>
              </a:rPr>
              <a:t>distribution</a:t>
            </a:r>
            <a:r>
              <a:rPr sz="1150" spc="190" dirty="0">
                <a:latin typeface="Times New Roman"/>
                <a:cs typeface="Times New Roman"/>
              </a:rPr>
              <a:t> </a:t>
            </a:r>
            <a:r>
              <a:rPr sz="1150" spc="50" dirty="0">
                <a:latin typeface="Times New Roman"/>
                <a:cs typeface="Times New Roman"/>
              </a:rPr>
              <a:t>by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spc="100" dirty="0">
                <a:latin typeface="Times New Roman"/>
                <a:cs typeface="Times New Roman"/>
              </a:rPr>
              <a:t>Pclass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spc="95" dirty="0">
                <a:latin typeface="Times New Roman"/>
                <a:cs typeface="Times New Roman"/>
              </a:rPr>
              <a:t>in</a:t>
            </a:r>
            <a:r>
              <a:rPr sz="1150" spc="100" dirty="0">
                <a:latin typeface="Times New Roman"/>
                <a:cs typeface="Times New Roman"/>
              </a:rPr>
              <a:t> </a:t>
            </a:r>
            <a:r>
              <a:rPr sz="1150" spc="80" dirty="0">
                <a:latin typeface="Times New Roman"/>
                <a:cs typeface="Times New Roman"/>
              </a:rPr>
              <a:t>Titanic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0793" y="4514122"/>
            <a:ext cx="120014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5" dirty="0">
                <a:solidFill>
                  <a:srgbClr val="181818"/>
                </a:solidFill>
                <a:latin typeface="Times New Roman"/>
                <a:cs typeface="Times New Roman"/>
              </a:rPr>
              <a:t>10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5954" y="4507910"/>
            <a:ext cx="12065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75" dirty="0">
                <a:latin typeface="Courier New"/>
                <a:cs typeface="Courier New"/>
              </a:rPr>
              <a:t>20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1182" y="1214934"/>
            <a:ext cx="5835650" cy="3949065"/>
            <a:chOff x="981182" y="1214934"/>
            <a:chExt cx="5835650" cy="39490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182" y="1214934"/>
              <a:ext cx="5835078" cy="3948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6874" y="1214934"/>
              <a:ext cx="133563" cy="6678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4563" y="892858"/>
            <a:ext cx="3970020" cy="3721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320040" algn="l"/>
              </a:tabLst>
            </a:pPr>
            <a:r>
              <a:rPr sz="1050" spc="-25" dirty="0">
                <a:latin typeface="Times New Roman"/>
                <a:cs typeface="Times New Roman"/>
              </a:rPr>
              <a:t>Age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140" dirty="0">
                <a:latin typeface="Times New Roman"/>
                <a:cs typeface="Times New Roman"/>
              </a:rPr>
              <a:t>Band </a:t>
            </a:r>
            <a:r>
              <a:rPr sz="1050" spc="215" dirty="0">
                <a:latin typeface="Times New Roman"/>
                <a:cs typeface="Times New Roman"/>
              </a:rPr>
              <a:t>&amp;</a:t>
            </a:r>
            <a:r>
              <a:rPr sz="1050" spc="-65" dirty="0">
                <a:latin typeface="Times New Roman"/>
                <a:cs typeface="Times New Roman"/>
              </a:rPr>
              <a:t> </a:t>
            </a:r>
            <a:r>
              <a:rPr sz="1050" spc="100" dirty="0">
                <a:latin typeface="Times New Roman"/>
                <a:cs typeface="Times New Roman"/>
              </a:rPr>
              <a:t>Survival</a:t>
            </a:r>
            <a:r>
              <a:rPr sz="1050" spc="235" dirty="0">
                <a:latin typeface="Times New Roman"/>
                <a:cs typeface="Times New Roman"/>
              </a:rPr>
              <a:t> </a:t>
            </a:r>
            <a:r>
              <a:rPr sz="1050" spc="105" dirty="0">
                <a:latin typeface="Times New Roman"/>
                <a:cs typeface="Times New Roman"/>
              </a:rPr>
              <a:t>Rate</a:t>
            </a:r>
            <a:endParaRPr sz="10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155"/>
              </a:spcBef>
            </a:pPr>
            <a:r>
              <a:rPr sz="950" dirty="0">
                <a:latin typeface="Times New Roman"/>
                <a:cs typeface="Times New Roman"/>
              </a:rPr>
              <a:t>It</a:t>
            </a:r>
            <a:r>
              <a:rPr sz="950" spc="11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can</a:t>
            </a:r>
            <a:r>
              <a:rPr sz="950" spc="95" dirty="0"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sz="950" spc="8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61616"/>
                </a:solidFill>
                <a:latin typeface="Times New Roman"/>
                <a:cs typeface="Times New Roman"/>
              </a:rPr>
              <a:t>seen</a:t>
            </a:r>
            <a:r>
              <a:rPr sz="950" spc="15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that</a:t>
            </a:r>
            <a:r>
              <a:rPr sz="950" spc="90" dirty="0"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sz="950" spc="7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survival</a:t>
            </a:r>
            <a:r>
              <a:rPr sz="950" spc="170" dirty="0"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0F0F0F"/>
                </a:solidFill>
                <a:latin typeface="Times New Roman"/>
                <a:cs typeface="Times New Roman"/>
              </a:rPr>
              <a:t>rate</a:t>
            </a:r>
            <a:r>
              <a:rPr sz="950" spc="11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61616"/>
                </a:solidFill>
                <a:latin typeface="Times New Roman"/>
                <a:cs typeface="Times New Roman"/>
              </a:rPr>
              <a:t>of</a:t>
            </a:r>
            <a:r>
              <a:rPr sz="950" spc="10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11111"/>
                </a:solidFill>
                <a:latin typeface="Times New Roman"/>
                <a:cs typeface="Times New Roman"/>
              </a:rPr>
              <a:t>young</a:t>
            </a:r>
            <a:r>
              <a:rPr sz="950" spc="1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cluldren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sz="950" spc="1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sz="950" spc="9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elderly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161616"/>
                </a:solidFill>
                <a:latin typeface="Times New Roman"/>
                <a:cs typeface="Times New Roman"/>
              </a:rPr>
              <a:t>is</a:t>
            </a:r>
            <a:r>
              <a:rPr sz="950" spc="10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161616"/>
                </a:solidFill>
                <a:latin typeface="Times New Roman"/>
                <a:cs typeface="Times New Roman"/>
              </a:rPr>
              <a:t>high.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5037" y="5044709"/>
            <a:ext cx="3556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181818"/>
                </a:solidFill>
                <a:latin typeface="Times New Roman"/>
                <a:cs typeface="Times New Roman"/>
              </a:rPr>
              <a:t>10</a:t>
            </a:r>
            <a:r>
              <a:rPr sz="800" spc="9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9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Times New Roman"/>
                <a:cs typeface="Times New Roman"/>
              </a:rPr>
              <a:t>20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5840" y="5044709"/>
            <a:ext cx="3460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</a:t>
            </a:r>
            <a:r>
              <a:rPr sz="800" dirty="0">
                <a:solidFill>
                  <a:srgbClr val="232323"/>
                </a:solidFill>
                <a:latin typeface="Times New Roman"/>
                <a:cs typeface="Times New Roman"/>
              </a:rPr>
              <a:t>0</a:t>
            </a:r>
            <a:r>
              <a:rPr sz="800" spc="5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2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Times New Roman"/>
                <a:cs typeface="Times New Roman"/>
              </a:rPr>
              <a:t>30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6587" y="5044709"/>
            <a:ext cx="3486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2323"/>
                </a:solidFill>
                <a:latin typeface="Times New Roman"/>
                <a:cs typeface="Times New Roman"/>
              </a:rPr>
              <a:t>30</a:t>
            </a:r>
            <a:r>
              <a:rPr sz="800" spc="6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Times New Roman"/>
                <a:cs typeface="Times New Roman"/>
              </a:rPr>
              <a:t>40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3470" y="5044709"/>
            <a:ext cx="3543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2323"/>
                </a:solidFill>
                <a:latin typeface="Times New Roman"/>
                <a:cs typeface="Times New Roman"/>
              </a:rPr>
              <a:t>40</a:t>
            </a:r>
            <a:r>
              <a:rPr sz="800" spc="9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Times New Roman"/>
                <a:cs typeface="Times New Roman"/>
              </a:rPr>
              <a:t>50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9568" y="5044709"/>
            <a:ext cx="3492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2323"/>
                </a:solidFill>
                <a:latin typeface="Times New Roman"/>
                <a:cs typeface="Times New Roman"/>
              </a:rPr>
              <a:t>50</a:t>
            </a:r>
            <a:r>
              <a:rPr sz="800" spc="6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Times New Roman"/>
                <a:cs typeface="Times New Roman"/>
              </a:rPr>
              <a:t>60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12758" y="5044709"/>
            <a:ext cx="3486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2323"/>
                </a:solidFill>
                <a:latin typeface="Times New Roman"/>
                <a:cs typeface="Times New Roman"/>
              </a:rPr>
              <a:t>60</a:t>
            </a:r>
            <a:r>
              <a:rPr sz="800" spc="6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3F3F3F"/>
                </a:solidFill>
                <a:latin typeface="Times New Roman"/>
                <a:cs typeface="Times New Roman"/>
              </a:rPr>
              <a:t>70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4394" y="5044709"/>
            <a:ext cx="3486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111111"/>
                </a:solidFill>
                <a:latin typeface="Times New Roman"/>
                <a:cs typeface="Times New Roman"/>
              </a:rPr>
              <a:t>70</a:t>
            </a:r>
            <a:r>
              <a:rPr sz="800" spc="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1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Times New Roman"/>
                <a:cs typeface="Times New Roman"/>
              </a:rPr>
              <a:t>80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9176" y="5044709"/>
            <a:ext cx="3454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65" dirty="0">
                <a:solidFill>
                  <a:srgbClr val="232323"/>
                </a:solidFill>
                <a:latin typeface="Times New Roman"/>
                <a:cs typeface="Times New Roman"/>
              </a:rPr>
              <a:t>B0</a:t>
            </a:r>
            <a:r>
              <a:rPr sz="800" spc="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r>
              <a:rPr sz="800" spc="23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Times New Roman"/>
                <a:cs typeface="Times New Roman"/>
              </a:rPr>
              <a:t>90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096" y="5791200"/>
            <a:ext cx="4888992" cy="2029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4746" y="2701055"/>
            <a:ext cx="167640" cy="27876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latin typeface="Arial MT"/>
                <a:cs typeface="Arial MT"/>
              </a:rPr>
              <a:t>Fare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472" y="3691128"/>
            <a:ext cx="4087367" cy="1859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6152" y="4276344"/>
            <a:ext cx="3916679" cy="161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183" y="4553711"/>
            <a:ext cx="51815" cy="1097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6689" y="889507"/>
            <a:ext cx="1651000" cy="54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Titanic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Age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Fare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500-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176" y="1878583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333333"/>
                </a:solidFill>
                <a:latin typeface="Arial MT"/>
                <a:cs typeface="Arial MT"/>
              </a:rPr>
              <a:t>400’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3360" y="2497835"/>
            <a:ext cx="2349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D4D4D"/>
                </a:solidFill>
                <a:latin typeface="Arial MT"/>
                <a:cs typeface="Arial MT"/>
              </a:rPr>
              <a:t>300</a:t>
            </a:r>
            <a:r>
              <a:rPr sz="800" spc="-12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8083" y="3091688"/>
            <a:ext cx="239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10" dirty="0">
                <a:solidFill>
                  <a:srgbClr val="333333"/>
                </a:solidFill>
                <a:latin typeface="Courier New"/>
                <a:cs typeface="Courier New"/>
              </a:rPr>
              <a:t>200-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9348" y="5539740"/>
            <a:ext cx="1188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Dispersion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Age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Sex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91815" y="4533391"/>
            <a:ext cx="136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0" dirty="0">
                <a:solidFill>
                  <a:srgbClr val="333333"/>
                </a:solidFill>
                <a:latin typeface="Consolas"/>
                <a:cs typeface="Consolas"/>
              </a:rPr>
              <a:t>2'0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14534" y="7831835"/>
            <a:ext cx="1828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Consolas"/>
                <a:cs typeface="Consolas"/>
              </a:rPr>
              <a:t>sex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6829" y="4539741"/>
            <a:ext cx="240029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ts val="1010"/>
              </a:lnSpc>
              <a:spcBef>
                <a:spcPts val="100"/>
              </a:spcBef>
            </a:pPr>
            <a:r>
              <a:rPr sz="850" spc="-25" dirty="0">
                <a:solidFill>
                  <a:srgbClr val="4D4D4D"/>
                </a:solidFill>
                <a:latin typeface="Arial MT"/>
                <a:cs typeface="Arial MT"/>
              </a:rPr>
              <a:t>40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ts val="1130"/>
              </a:lnSpc>
            </a:pPr>
            <a:r>
              <a:rPr sz="950" spc="-25" dirty="0">
                <a:latin typeface="Arial MT"/>
                <a:cs typeface="Arial MT"/>
              </a:rPr>
              <a:t>Age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5183" y="4546091"/>
            <a:ext cx="1371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333333"/>
                </a:solidFill>
                <a:latin typeface="Arial MT"/>
                <a:cs typeface="Arial MT"/>
              </a:rPr>
              <a:t>6'0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3001" y="5649721"/>
            <a:ext cx="1733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onsolas"/>
                <a:cs typeface="Consolas"/>
              </a:rPr>
              <a:t>Sex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2855" y="4546091"/>
            <a:ext cx="1384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333333"/>
                </a:solidFill>
                <a:latin typeface="Arial MT"/>
                <a:cs typeface="Arial MT"/>
              </a:rPr>
              <a:t>8'0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9111" y="6123178"/>
            <a:ext cx="18923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0" dirty="0">
                <a:latin typeface="Arial MT"/>
                <a:cs typeface="Arial MT"/>
              </a:rPr>
              <a:t>male</a:t>
            </a:r>
            <a:endParaRPr sz="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5775959"/>
            <a:ext cx="685800" cy="26944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91" y="4084320"/>
            <a:ext cx="4639056" cy="10607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463" y="1319783"/>
            <a:ext cx="5227320" cy="20147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633472" y="8447531"/>
            <a:ext cx="326390" cy="0"/>
          </a:xfrm>
          <a:custGeom>
            <a:avLst/>
            <a:gdLst/>
            <a:ahLst/>
            <a:cxnLst/>
            <a:rect l="l" t="t" r="r" b="b"/>
            <a:pathLst>
              <a:path w="326389">
                <a:moveTo>
                  <a:pt x="0" y="0"/>
                </a:moveTo>
                <a:lnTo>
                  <a:pt x="326136" y="0"/>
                </a:lnTo>
              </a:path>
            </a:pathLst>
          </a:custGeom>
          <a:ln w="9144">
            <a:solidFill>
              <a:srgbClr val="4F7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74861" y="1068323"/>
            <a:ext cx="16135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Dispersion</a:t>
            </a:r>
            <a:r>
              <a:rPr sz="800" spc="1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</a:t>
            </a:r>
            <a:r>
              <a:rPr sz="800" i="1" dirty="0">
                <a:solidFill>
                  <a:srgbClr val="000052"/>
                </a:solidFill>
                <a:latin typeface="Arial"/>
                <a:cs typeface="Arial"/>
              </a:rPr>
              <a:t>f</a:t>
            </a:r>
            <a:r>
              <a:rPr sz="800" i="1" spc="140" dirty="0">
                <a:solidFill>
                  <a:srgbClr val="000052"/>
                </a:solidFill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Age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3AE93"/>
                </a:solidFill>
                <a:latin typeface="Arial MT"/>
                <a:cs typeface="Arial MT"/>
              </a:rPr>
              <a:t>by</a:t>
            </a:r>
            <a:r>
              <a:rPr sz="800" spc="45" dirty="0">
                <a:solidFill>
                  <a:srgbClr val="93AE93"/>
                </a:solidFill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Ticket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Class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6724" y="5825744"/>
            <a:ext cx="36766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64646"/>
                </a:solidFill>
                <a:latin typeface="Times New Roman"/>
                <a:cs typeface="Times New Roman"/>
              </a:rPr>
              <a:t>0.</a:t>
            </a:r>
            <a:r>
              <a:rPr sz="900" spc="-10" dirty="0">
                <a:solidFill>
                  <a:srgbClr val="2A2A2A"/>
                </a:solidFill>
                <a:latin typeface="Times New Roman"/>
                <a:cs typeface="Times New Roman"/>
              </a:rPr>
              <a:t>0175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9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850" spc="30" dirty="0">
                <a:solidFill>
                  <a:srgbClr val="2A2A2A"/>
                </a:solidFill>
                <a:latin typeface="Times New Roman"/>
                <a:cs typeface="Times New Roman"/>
              </a:rPr>
              <a:t>0.015</a:t>
            </a:r>
            <a:r>
              <a:rPr sz="850" spc="-2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850" spc="-50" dirty="0">
                <a:solidFill>
                  <a:srgbClr val="444444"/>
                </a:solidFill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2A2A2A"/>
                </a:solidFill>
                <a:latin typeface="Consolas"/>
                <a:cs typeface="Consolas"/>
              </a:rPr>
              <a:t>0.0125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7156" y="6929373"/>
            <a:ext cx="37020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45" dirty="0">
                <a:solidFill>
                  <a:srgbClr val="2A2A2A"/>
                </a:solidFill>
                <a:latin typeface="Arial MT"/>
                <a:cs typeface="Arial MT"/>
              </a:rPr>
              <a:t>0.01</a:t>
            </a:r>
            <a:r>
              <a:rPr sz="850" spc="-45" dirty="0">
                <a:solidFill>
                  <a:srgbClr val="424242"/>
                </a:solidFill>
                <a:latin typeface="Arial MT"/>
                <a:cs typeface="Arial MT"/>
              </a:rPr>
              <a:t>OO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734" y="7298182"/>
            <a:ext cx="3689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64646"/>
                </a:solidFill>
                <a:latin typeface="Times New Roman"/>
                <a:cs typeface="Times New Roman"/>
              </a:rPr>
              <a:t>0.</a:t>
            </a:r>
            <a:r>
              <a:rPr sz="850" dirty="0">
                <a:solidFill>
                  <a:srgbClr val="2F2F2F"/>
                </a:solidFill>
                <a:latin typeface="Times New Roman"/>
                <a:cs typeface="Times New Roman"/>
              </a:rPr>
              <a:t>007</a:t>
            </a:r>
            <a:r>
              <a:rPr sz="85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850" spc="-50" dirty="0">
                <a:solidFill>
                  <a:srgbClr val="757575"/>
                </a:solidFill>
                <a:latin typeface="Times New Roman"/>
                <a:cs typeface="Times New Roman"/>
              </a:rPr>
              <a:t>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156" y="7660893"/>
            <a:ext cx="367665" cy="88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24242"/>
                </a:solidFill>
                <a:latin typeface="Times New Roman"/>
                <a:cs typeface="Times New Roman"/>
              </a:rPr>
              <a:t>0.Oß5</a:t>
            </a:r>
            <a:r>
              <a:rPr sz="85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850" spc="-50" dirty="0">
                <a:solidFill>
                  <a:srgbClr val="444444"/>
                </a:solidFill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850" spc="-10" dirty="0">
                <a:solidFill>
                  <a:srgbClr val="363636"/>
                </a:solidFill>
                <a:latin typeface="Times New Roman"/>
                <a:cs typeface="Times New Roman"/>
              </a:rPr>
              <a:t>0.Oß25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50" spc="-90" dirty="0">
                <a:solidFill>
                  <a:srgbClr val="424242"/>
                </a:solidFill>
                <a:latin typeface="Arial MT"/>
                <a:cs typeface="Arial MT"/>
              </a:rPr>
              <a:t>0.OßOO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9580" y="8511032"/>
            <a:ext cx="787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64646"/>
                </a:solidFill>
                <a:latin typeface="Consolas"/>
                <a:cs typeface="Consolas"/>
              </a:rPr>
              <a:t>0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2306" y="8504682"/>
            <a:ext cx="424815" cy="32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20"/>
              </a:lnSpc>
              <a:spcBef>
                <a:spcPts val="100"/>
              </a:spcBef>
            </a:pPr>
            <a:r>
              <a:rPr sz="950" spc="-25" dirty="0">
                <a:solidFill>
                  <a:srgbClr val="262626"/>
                </a:solidFill>
                <a:latin typeface="Courier New"/>
                <a:cs typeface="Courier New"/>
              </a:rPr>
              <a:t>200</a:t>
            </a:r>
            <a:endParaRPr sz="950">
              <a:latin typeface="Courier New"/>
              <a:cs typeface="Courier New"/>
            </a:endParaRPr>
          </a:p>
          <a:p>
            <a:pPr marL="194310">
              <a:lnSpc>
                <a:spcPts val="1240"/>
              </a:lnSpc>
            </a:pPr>
            <a:r>
              <a:rPr sz="1050" spc="-30" dirty="0">
                <a:solidFill>
                  <a:srgbClr val="363636"/>
                </a:solidFill>
                <a:latin typeface="Times New Roman"/>
                <a:cs typeface="Times New Roman"/>
              </a:rPr>
              <a:t>Fare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7631" y="8504682"/>
            <a:ext cx="2006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414141"/>
                </a:solidFill>
                <a:latin typeface="Times New Roman"/>
                <a:cs typeface="Times New Roman"/>
              </a:rPr>
              <a:t>40</a:t>
            </a:r>
            <a:r>
              <a:rPr sz="950" spc="-13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4B4B4B"/>
                </a:solidFill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3422" y="3446271"/>
            <a:ext cx="24257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0" dirty="0">
                <a:latin typeface="Times New Roman"/>
                <a:cs typeface="Times New Roman"/>
              </a:rPr>
              <a:t>Pcl</a:t>
            </a:r>
            <a:r>
              <a:rPr sz="700" spc="-50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ass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7594" y="8511032"/>
            <a:ext cx="204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64646"/>
                </a:solidFill>
                <a:latin typeface="Consolas"/>
                <a:cs typeface="Consolas"/>
              </a:rPr>
              <a:t>600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7981" y="6947027"/>
            <a:ext cx="497840" cy="5060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50" spc="-10" dirty="0">
                <a:solidFill>
                  <a:srgbClr val="262626"/>
                </a:solidFill>
                <a:latin typeface="Times New Roman"/>
                <a:cs typeface="Times New Roman"/>
              </a:rPr>
              <a:t>Survived</a:t>
            </a:r>
            <a:endParaRPr sz="105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  <a:spcBef>
                <a:spcPts val="160"/>
              </a:spcBef>
            </a:pPr>
            <a:r>
              <a:rPr sz="900" spc="-50" dirty="0">
                <a:solidFill>
                  <a:srgbClr val="464646"/>
                </a:solidFill>
                <a:latin typeface="Consolas"/>
                <a:cs typeface="Consolas"/>
              </a:rPr>
              <a:t>0</a:t>
            </a:r>
            <a:endParaRPr sz="900">
              <a:latin typeface="Consolas"/>
              <a:cs typeface="Consolas"/>
            </a:endParaRPr>
          </a:p>
          <a:p>
            <a:pPr marL="365125">
              <a:lnSpc>
                <a:spcPct val="100000"/>
              </a:lnSpc>
              <a:spcBef>
                <a:spcPts val="75"/>
              </a:spcBef>
            </a:pPr>
            <a:r>
              <a:rPr sz="850" spc="-50" dirty="0">
                <a:solidFill>
                  <a:srgbClr val="3D3D3D"/>
                </a:solidFill>
                <a:latin typeface="Consolas"/>
                <a:cs typeface="Consolas"/>
              </a:rPr>
              <a:t>l</a:t>
            </a:r>
            <a:endParaRPr sz="85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4391" y="1171956"/>
            <a:ext cx="2514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80" dirty="0">
                <a:latin typeface="Consolas"/>
                <a:cs typeface="Consolas"/>
              </a:rPr>
              <a:t>Class</a:t>
            </a:r>
            <a:endParaRPr sz="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887</Words>
  <Application>Microsoft Office PowerPoint</Application>
  <PresentationFormat>Kustom</PresentationFormat>
  <Paragraphs>500</Paragraphs>
  <Slides>11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11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Consolas</vt:lpstr>
      <vt:lpstr>Courier New</vt:lpstr>
      <vt:lpstr>Times New Roman</vt:lpstr>
      <vt:lpstr>Trebuchet MS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Jinal Thakkar</dc:creator>
  <cp:lastModifiedBy>20222007@mahasiswa.itb.ac.id Liwa4321six</cp:lastModifiedBy>
  <cp:revision>2</cp:revision>
  <dcterms:created xsi:type="dcterms:W3CDTF">2026-03-11T11:54:34Z</dcterms:created>
  <dcterms:modified xsi:type="dcterms:W3CDTF">2026-03-12T02:46:28Z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2024-05-27T00:00:00Z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2026-03-11T00:00:00Z</vt:filetime>
  </property>
  <property fmtid="{D5CDD505-2E9C-101B-9397-08002B2CF9AE}" pid="5" name="Producer">
    <vt:lpwstr>Microsoft® Word for Microsoft 365</vt:lpwstr>
  </property>
</Properties>
</file>